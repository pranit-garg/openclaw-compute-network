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spat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087" y="164592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362895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5600" b="1" i="0">
                <a:solidFill>
                  <a:srgbClr val="D4A246"/>
                </a:solidFill>
                <a:latin typeface="Space Grotesk"/>
              </a:defRPr>
            </a:pPr>
            <a:r>
              <a:t>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2895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 b="0" i="0">
                <a:solidFill>
                  <a:srgbClr val="9999B0"/>
                </a:solidFill>
                <a:latin typeface="Space Grotesk"/>
              </a:defRPr>
            </a:pPr>
            <a: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0" i="0">
                <a:solidFill>
                  <a:srgbClr val="9999B0"/>
                </a:solidFill>
                <a:latin typeface="Space Grotesk"/>
              </a:defRPr>
            </a:pPr>
            <a:r>
              <a:t>Agent-Native Compute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888888"/>
                </a:solidFill>
              </a:rPr>
              <a:t>64,000+ lines, built entirely by AI agents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1" fill="hold"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54864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960120"/>
            <a:ext cx="10058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Space Grotesk"/>
              </a:defRPr>
            </a:pPr>
            <a:r>
              <a:t>System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821527" y="1508760"/>
            <a:ext cx="548640" cy="25400"/>
          </a:xfrm>
          <a:prstGeom prst="rect">
            <a:avLst/>
          </a:prstGeom>
          <a:solidFill>
            <a:srgbClr val="D4A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6547" y="2743200"/>
            <a:ext cx="2194560" cy="1097280"/>
          </a:xfrm>
          <a:prstGeom prst="rect"/>
          <a:solidFill>
            <a:srgbClr val="121218"/>
          </a:solidFill>
          <a:ln w="12700">
            <a:solidFill>
              <a:srgbClr val="D4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3707" y="2926080"/>
            <a:ext cx="19202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 i="0">
                <a:solidFill>
                  <a:srgbClr val="D4A246"/>
                </a:solidFill>
                <a:latin typeface="Space Grotesk"/>
              </a:defRPr>
            </a:pPr>
            <a: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707" y="3291840"/>
            <a:ext cx="19202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300" b="0" i="0">
                <a:solidFill>
                  <a:srgbClr val="9999B0"/>
                </a:solidFill>
                <a:latin typeface="JetBrains Mono"/>
              </a:defRPr>
            </a:pPr>
            <a:r>
              <a:t>HTTP + x402 payment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5407" y="3017520"/>
            <a:ext cx="457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 b="0" i="0">
                <a:solidFill>
                  <a:srgbClr val="D4A246"/>
                </a:solidFill>
                <a:latin typeface="Space Grotesk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1227" y="2743200"/>
            <a:ext cx="2194560" cy="1097280"/>
          </a:xfrm>
          <a:prstGeom prst="rect"/>
          <a:solidFill>
            <a:srgbClr val="121218"/>
          </a:solidFill>
          <a:ln w="12700">
            <a:solidFill>
              <a:srgbClr val="D4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387" y="2926080"/>
            <a:ext cx="19202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 i="0">
                <a:solidFill>
                  <a:srgbClr val="D4A246"/>
                </a:solidFill>
                <a:latin typeface="Space Grotesk"/>
              </a:defRPr>
            </a:pPr>
            <a:r>
              <a:t>Coordinator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8387" y="3291840"/>
            <a:ext cx="19202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300" b="0" i="0">
                <a:solidFill>
                  <a:srgbClr val="9999B0"/>
                </a:solidFill>
                <a:latin typeface="JetBrains Mono"/>
              </a:defRPr>
            </a:pPr>
            <a:r>
              <a:t>Route, verify, settle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0087" y="3017520"/>
            <a:ext cx="457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 b="0" i="0">
                <a:solidFill>
                  <a:srgbClr val="D4A246"/>
                </a:solidFill>
                <a:latin typeface="Space Grotesk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75907" y="2743200"/>
            <a:ext cx="2194560" cy="1097280"/>
          </a:xfrm>
          <a:prstGeom prst="rect"/>
          <a:solidFill>
            <a:srgbClr val="121218"/>
          </a:solidFill>
          <a:ln w="12700">
            <a:solidFill>
              <a:srgbClr val="D4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3067" y="2926080"/>
            <a:ext cx="19202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 i="0">
                <a:solidFill>
                  <a:srgbClr val="D4A246"/>
                </a:solidFill>
                <a:latin typeface="Space Grotesk"/>
              </a:defRPr>
            </a:pPr>
            <a:r>
              <a:t>Workers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3067" y="3291840"/>
            <a:ext cx="19202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300" b="0" i="0">
                <a:solidFill>
                  <a:srgbClr val="9999B0"/>
                </a:solidFill>
                <a:latin typeface="JetBrains Mono"/>
              </a:defRPr>
            </a:pPr>
            <a:r>
              <a:t>Execute compute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4767" y="3017520"/>
            <a:ext cx="457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 b="0" i="0">
                <a:solidFill>
                  <a:srgbClr val="D4A246"/>
                </a:solidFill>
                <a:latin typeface="Space Grotesk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0587" y="2743200"/>
            <a:ext cx="2194560" cy="1097280"/>
          </a:xfrm>
          <a:prstGeom prst="rect"/>
          <a:solidFill>
            <a:srgbClr val="121218"/>
          </a:solidFill>
          <a:ln w="12700">
            <a:solidFill>
              <a:srgbClr val="D4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67747" y="2926080"/>
            <a:ext cx="19202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 i="0">
                <a:solidFill>
                  <a:srgbClr val="D4A246"/>
                </a:solidFill>
                <a:latin typeface="Space Grotesk"/>
              </a:defRPr>
            </a:pPr>
            <a:r>
              <a:t>Settlement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67747" y="3291840"/>
            <a:ext cx="19202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300" b="0" i="0">
                <a:solidFill>
                  <a:srgbClr val="9999B0"/>
                </a:solidFill>
                <a:latin typeface="JetBrains Mono"/>
              </a:defRPr>
            </a:pPr>
            <a:r>
              <a:t>On-chain receipts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fill="hold"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fill="hold"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fill="hold"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fill="hold"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fill="hold"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fill="hold"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fill="hold"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1" fill="hold"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3" fill="hold"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fill="hold"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0" fill="hold"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2" fill="hold"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54864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DUAL-CHAIN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960120"/>
            <a:ext cx="10058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Space Grotesk"/>
              </a:defRPr>
            </a:pPr>
            <a:r>
              <a:t>Two chains, one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821527" y="1508760"/>
            <a:ext cx="548640" cy="25400"/>
          </a:xfrm>
          <a:prstGeom prst="rect">
            <a:avLst/>
          </a:prstGeom>
          <a:solidFill>
            <a:srgbClr val="D4A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6607" y="2103120"/>
            <a:ext cx="5029200" cy="3840480"/>
          </a:xfrm>
          <a:prstGeom prst="rect"/>
          <a:solidFill>
            <a:srgbClr val="121218"/>
          </a:solidFill>
          <a:ln w="12700">
            <a:solidFill>
              <a:srgbClr val="994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0927" y="2331720"/>
            <a:ext cx="44805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14F195"/>
                </a:solidFill>
                <a:latin typeface="JetBrains Mono"/>
              </a:defRPr>
            </a:pPr>
            <a:r>
              <a:t>LIVE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927" y="2651760"/>
            <a:ext cx="4480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9945FF"/>
                </a:solidFill>
                <a:latin typeface="Space Grotesk"/>
              </a:defRPr>
            </a:pPr>
            <a:r>
              <a:t>Solana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0927" y="3063240"/>
            <a:ext cx="4480560" cy="2651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 i="0">
                <a:solidFill>
                  <a:srgbClr val="9999B0"/>
                </a:solidFill>
                <a:latin typeface="Space Grotesk"/>
              </a:defRPr>
            </a:pPr>
            <a:r>
              <a:t>  •  SPL token (BOLT)</a:t>
            </a:r>
            <a:br/>
            <a:r>
              <a:t>  •  Program-based coordinator</a:t>
            </a:r>
            <a:br/>
            <a:r>
              <a:t>  •  Seeker mobile workers</a:t>
            </a:r>
            <a:br/>
            <a:r>
              <a:t>  •  Sub-second finality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5887" y="2103120"/>
            <a:ext cx="5029200" cy="3840480"/>
          </a:xfrm>
          <a:prstGeom prst="rect"/>
          <a:solidFill>
            <a:srgbClr val="121218"/>
          </a:solidFill>
          <a:ln w="12700">
            <a:solidFill>
              <a:srgbClr val="6E5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7" y="2331720"/>
            <a:ext cx="44805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D4A246"/>
                </a:solidFill>
                <a:latin typeface="JetBrains Mono"/>
              </a:defRPr>
            </a:pPr>
            <a:r>
              <a:t>TESTNET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7" y="2651760"/>
            <a:ext cx="4480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6E54FF"/>
                </a:solidFill>
                <a:latin typeface="Space Grotesk"/>
              </a:defRPr>
            </a:pPr>
            <a:r>
              <a:t>Monad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7" y="3063240"/>
            <a:ext cx="4480560" cy="2651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 i="0">
                <a:solidFill>
                  <a:srgbClr val="9999B0"/>
                </a:solidFill>
                <a:latin typeface="Space Grotesk"/>
              </a:defRPr>
            </a:pPr>
            <a:r>
              <a:t>  •  ERC-20 token (BOLT)</a:t>
            </a:r>
            <a:br/>
            <a:r>
              <a:t>  •  Smart contract coordinator</a:t>
            </a:r>
            <a:br/>
            <a:r>
              <a:t>  •  Desktop worker fleet</a:t>
            </a:r>
            <a:br/>
            <a:r>
              <a:t>  •  EVM compatibility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fill="hold"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fill="hold"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fill="hold"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" fill="hold"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9" fill="hold"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fill="hold"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fill="hold"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54864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SOLANA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960120"/>
            <a:ext cx="10058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Space Grotesk"/>
              </a:defRPr>
            </a:pPr>
            <a:r>
              <a:t>Solana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21527" y="1508760"/>
            <a:ext cx="548640" cy="25400"/>
          </a:xfrm>
          <a:prstGeom prst="rect">
            <a:avLst/>
          </a:prstGeom>
          <a:solidFill>
            <a:srgbClr val="D4A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8047" y="2103120"/>
            <a:ext cx="329184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047" y="2141220"/>
            <a:ext cx="3291840" cy="164592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2367" y="236982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rPr>
                <a:solidFill/>
              </a:rPr>
              <a:t>BOLT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367" y="2781300"/>
            <a:ext cx="27432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9999B0"/>
                </a:solidFill>
                <a:latin typeface="Space Grotesk"/>
              </a:defRPr>
            </a:pPr>
            <a:r>
              <a:rPr>
                <a:solidFill/>
              </a:rPr>
              <a:t>SPL mint, 1B supply, 9 decimals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9927" y="2103120"/>
            <a:ext cx="329184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49927" y="2141220"/>
            <a:ext cx="3291840" cy="164592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247" y="236982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Coordinator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247" y="2781300"/>
            <a:ext cx="27432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9999B0"/>
                </a:solidFill>
                <a:latin typeface="Space Grotesk"/>
              </a:defRPr>
            </a:pPr>
            <a:r>
              <a:t>Express + WebSocket, routing + settlement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1807" y="2103120"/>
            <a:ext cx="329184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61807" y="2141220"/>
            <a:ext cx="3291840" cy="164592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6127" y="236982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Worker 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6127" y="2781300"/>
            <a:ext cx="27432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9999B0"/>
                </a:solidFill>
                <a:latin typeface="Space Grotesk"/>
              </a:defRPr>
            </a:pPr>
            <a:r>
              <a:t>On-chain registration, stake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8047" y="4152900"/>
            <a:ext cx="329184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8047" y="4191000"/>
            <a:ext cx="3291840" cy="164592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2367" y="441960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Staking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367" y="4831080"/>
            <a:ext cx="27432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9999B0"/>
                </a:solidFill>
                <a:latin typeface="Space Grotesk"/>
              </a:defRPr>
            </a:pPr>
            <a:r>
              <a:t>Tiered staking, priority matching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49927" y="4152900"/>
            <a:ext cx="3291840" cy="381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49927" y="4191000"/>
            <a:ext cx="3291840" cy="164592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4247" y="441960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Receipts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4247" y="4831080"/>
            <a:ext cx="27432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9999B0"/>
                </a:solidFill>
                <a:latin typeface="Space Grotesk"/>
              </a:defRPr>
            </a:pPr>
            <a:r>
              <a:t>Execution proofs, Ed25519 signed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1807" y="4152900"/>
            <a:ext cx="3291840" cy="381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61807" y="4191000"/>
            <a:ext cx="3291840" cy="1645920"/>
          </a:xfrm>
          <a:prstGeom prst="rect"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6127" y="4419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dApp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6127" y="48310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Approved, release NFT on Arweave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54864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WORKERS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960120"/>
            <a:ext cx="10058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Space Grotesk"/>
              </a:defRPr>
            </a:pPr>
            <a:r>
              <a:t>Worker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21527" y="1508760"/>
            <a:ext cx="548640" cy="25400"/>
          </a:xfrm>
          <a:prstGeom prst="rect">
            <a:avLst/>
          </a:prstGeom>
          <a:solidFill>
            <a:srgbClr val="D4A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6607" y="2103120"/>
            <a:ext cx="5029200" cy="384048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0927" y="2331720"/>
            <a:ext cx="4480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34D399"/>
                </a:solidFill>
                <a:latin typeface="Space Grotesk"/>
              </a:defRPr>
            </a:pPr>
            <a:r>
              <a:t>Mobile Workers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927" y="2743200"/>
            <a:ext cx="4480560" cy="2971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 i="0">
                <a:solidFill>
                  <a:srgbClr val="9999B0"/>
                </a:solidFill>
                <a:latin typeface="Space Grotesk"/>
              </a:defRPr>
            </a:pPr>
            <a:r>
              <a:t>  •  React Native + Expo</a:t>
            </a:r>
            <a:br/>
            <a:r>
              <a:t>  •  Background task execution</a:t>
            </a:r>
            <a:br/>
            <a:r>
              <a:t>  •  Solana Mobile SDK</a:t>
            </a:r>
            <a:br/>
            <a:r>
              <a:t>  •  Battery-aware scheduling</a:t>
            </a:r>
            <a:br/>
            <a:r>
              <a:t>  •  Seeker-first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15887" y="2103120"/>
            <a:ext cx="5029200" cy="384048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0207" y="2331720"/>
            <a:ext cx="4480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D4A246"/>
                </a:solidFill>
                <a:latin typeface="Space Grotesk"/>
              </a:defRPr>
            </a:pPr>
            <a:r>
              <a:t>Desktop Workers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0207" y="2743200"/>
            <a:ext cx="4480560" cy="2971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 i="0">
                <a:solidFill>
                  <a:srgbClr val="9999B0"/>
                </a:solidFill>
                <a:latin typeface="Space Grotesk"/>
              </a:defRPr>
            </a:pPr>
            <a:r>
              <a:t>  •  Node.js + Ollama</a:t>
            </a:r>
            <a:br/>
            <a:r>
              <a:t>  •  Higher compute capacity</a:t>
            </a:r>
            <a:br/>
            <a:r>
              <a:t>  •  Multi-chain support</a:t>
            </a:r>
            <a:br/>
            <a:r>
              <a:t>  •  Persistent connections</a:t>
            </a:r>
            <a:br/>
            <a:r>
              <a:t>  •  x86/ARM compatible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54864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960120"/>
            <a:ext cx="10058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Space Grotesk"/>
              </a:defRPr>
            </a:pPr>
            <a:r>
              <a:t>x402 Payment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821527" y="1508760"/>
            <a:ext cx="548640" cy="25400"/>
          </a:xfrm>
          <a:prstGeom prst="rect">
            <a:avLst/>
          </a:prstGeom>
          <a:solidFill>
            <a:srgbClr val="D4A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7315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D4A246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94560"/>
            <a:ext cx="82296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900" b="0" i="0">
                <a:solidFill>
                  <a:srgbClr val="FFFFFF"/>
                </a:solidFill>
                <a:latin typeface="Space Grotesk"/>
              </a:defRPr>
            </a:pPr>
            <a:r>
              <a:t>Agent sends HTTP request with x402 payment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88920"/>
            <a:ext cx="7315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D4A246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788920"/>
            <a:ext cx="82296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900" b="0" i="0">
                <a:solidFill>
                  <a:srgbClr val="FFFFFF"/>
                </a:solidFill>
                <a:latin typeface="Space Grotesk"/>
              </a:defRPr>
            </a:pPr>
            <a:r>
              <a:t>Coordinator validates payment and extracts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383280"/>
            <a:ext cx="7315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D4A246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383280"/>
            <a:ext cx="82296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900" b="0" i="0">
                <a:solidFill>
                  <a:srgbClr val="FFFFFF"/>
                </a:solidFill>
                <a:latin typeface="Space Grotesk"/>
              </a:defRPr>
            </a:pPr>
            <a:r>
              <a:t>Task routed to optimal worker by reputation, device type, and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977640"/>
            <a:ext cx="7315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D4A246"/>
                </a:solidFill>
                <a:latin typeface="JetBrains Mono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977640"/>
            <a:ext cx="82296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900" b="0" i="0">
                <a:solidFill>
                  <a:srgbClr val="FFFFFF"/>
                </a:solidFill>
                <a:latin typeface="Space Grotesk"/>
              </a:defRPr>
            </a:pPr>
            <a:r>
              <a:t>Worker executes task and generates signed receipt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572000"/>
            <a:ext cx="7315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D4A246"/>
                </a:solidFill>
                <a:latin typeface="JetBrains Mono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572000"/>
            <a:ext cx="82296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900" b="0" i="0">
                <a:solidFill>
                  <a:srgbClr val="FFFFFF"/>
                </a:solidFill>
                <a:latin typeface="Space Grotesk"/>
              </a:defRPr>
            </a:pPr>
            <a:r>
              <a:t>Coordinator verifies receipt and anchors on-chain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66360"/>
            <a:ext cx="7315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D4A246"/>
                </a:solidFill>
                <a:latin typeface="JetBrains Mono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166360"/>
            <a:ext cx="82296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900" b="0" i="0">
                <a:solidFill>
                  <a:srgbClr val="FFFFFF"/>
                </a:solidFill>
                <a:latin typeface="Space Grotesk"/>
              </a:defRPr>
            </a:pPr>
            <a:r>
              <a:t>Result returned to agent with cryptographic proof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fill="hold"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fill="hold"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fill="hold"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3" fill="hold"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fill="hold"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3" fill="hold"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fill="hold"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54864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960120"/>
            <a:ext cx="10058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Space Grotesk"/>
              </a:defRPr>
            </a:pPr>
            <a:r>
              <a:t>Trust Without Intermediaries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21527" y="1508760"/>
            <a:ext cx="548640" cy="25400"/>
          </a:xfrm>
          <a:prstGeom prst="rect">
            <a:avLst/>
          </a:prstGeom>
          <a:solidFill>
            <a:srgbClr val="D4A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2327" y="2103120"/>
            <a:ext cx="3291840" cy="329184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647" y="2331720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D4A246"/>
                </a:solidFill>
                <a:latin typeface="JetBrains Mono"/>
              </a:defRPr>
            </a:pPr>
            <a:r>
              <a:t>SIGNATURES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647" y="265176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Ed25519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647" y="3063240"/>
            <a:ext cx="274320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9999B0"/>
                </a:solidFill>
                <a:latin typeface="Space Grotesk"/>
              </a:defRPr>
            </a:pPr>
            <a:r>
              <a:t>Every worker result is cryptographically signed. Agents can independently verify without trusting the coordinator.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927" y="2103120"/>
            <a:ext cx="3291840" cy="329184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4247" y="2331720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D4A246"/>
                </a:solidFill>
                <a:latin typeface="JetBrains Mono"/>
              </a:defRPr>
            </a:pPr>
            <a: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247" y="265176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ERC-8004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247" y="3063240"/>
            <a:ext cx="274320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9999B0"/>
                </a:solidFill>
                <a:latin typeface="Space Grotesk"/>
              </a:defRPr>
            </a:pPr>
            <a:r>
              <a:t>On-chain agent identity and reputation. Workers build verifiable track records across tasks.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527" y="2103120"/>
            <a:ext cx="3291840" cy="329184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1847" y="2331720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D4A246"/>
                </a:solidFill>
                <a:latin typeface="JetBrains Mono"/>
              </a:defRPr>
            </a:pPr>
            <a:r>
              <a:t>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847" y="265176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On-Chain Anchoring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1847" y="3063240"/>
            <a:ext cx="274320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9999B0"/>
                </a:solidFill>
                <a:latin typeface="Space Grotesk"/>
              </a:defRPr>
            </a:pPr>
            <a:r>
              <a:t>Execution receipts anchored to Solana or Monad. Immutable, auditable, permanent.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fill="hold"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fill="hold"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fill="hold"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" fill="hold"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fill="hold"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fill="hold"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fill="hold"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1" fill="hold"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3" fill="hold"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5" fill="hold"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54864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960120"/>
            <a:ext cx="10058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Space Grotesk"/>
              </a:defRPr>
            </a:pPr>
            <a:r>
              <a:t>Smart Task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821527" y="1508760"/>
            <a:ext cx="548640" cy="25400"/>
          </a:xfrm>
          <a:prstGeom prst="rect">
            <a:avLst/>
          </a:prstGeom>
          <a:solidFill>
            <a:srgbClr val="D4A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2327" y="2103120"/>
            <a:ext cx="329184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2327" y="2141220"/>
            <a:ext cx="3291840" cy="329184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647" y="2369820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D4A246"/>
                </a:solidFill>
                <a:latin typeface="JetBrains Mono"/>
              </a:defRPr>
            </a:pPr>
            <a:r>
              <a:t>FAST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647" y="268986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Speed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647" y="3101340"/>
            <a:ext cx="274320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9999B0"/>
                </a:solidFill>
                <a:latin typeface="Space Grotesk"/>
              </a:defRPr>
            </a:pPr>
            <a:r>
              <a:t>Route to nearest available worker. Minimize latency. Best for real-time agent decisions.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9927" y="2103120"/>
            <a:ext cx="3291840" cy="38100"/>
          </a:xfrm>
          <a:prstGeom prst="rect">
            <a:avLst/>
          </a:prstGeom>
          <a:solidFill>
            <a:srgbClr val="D4A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9927" y="2141220"/>
            <a:ext cx="3291840" cy="329184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4247" y="2369820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D4A246"/>
                </a:solidFill>
                <a:latin typeface="JetBrains Mono"/>
              </a:defRPr>
            </a:pPr>
            <a:r>
              <a:t>CHEAP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247" y="268986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Cost 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247" y="3101340"/>
            <a:ext cx="274320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9999B0"/>
                </a:solidFill>
                <a:latin typeface="Space Grotesk"/>
              </a:defRPr>
            </a:pPr>
            <a:r>
              <a:t>Route to lowest-cost worker. Batch when possible. Best for background processing.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527" y="2103120"/>
            <a:ext cx="3291840" cy="381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07527" y="2141220"/>
            <a:ext cx="3291840" cy="329184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1847" y="2369820"/>
            <a:ext cx="2743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D4A246"/>
                </a:solidFill>
                <a:latin typeface="JetBrains Mono"/>
              </a:defRPr>
            </a:pPr>
            <a:r>
              <a:t>PRIVATE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268986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pace Grotesk"/>
              </a:defRPr>
            </a:pPr>
            <a:r>
              <a:t>Privacy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847" y="3101340"/>
            <a:ext cx="274320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9999B0"/>
                </a:solidFill>
                <a:latin typeface="Space Grotesk"/>
              </a:defRPr>
            </a:pPr>
            <a:r>
              <a:t>Route to TEE-enabled workers. Encrypted execution. Best for sensitive data.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fill="hold"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fill="hold"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fill="hold"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" fill="hold"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9" fill="hold"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fill="hold"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fill="hold"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fill="hold"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fill="hold"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5" fill="hold"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7" fill="hold"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9" fill="hold"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1" fill="hold"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047" y="548640"/>
            <a:ext cx="3657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0" i="0">
                <a:solidFill>
                  <a:srgbClr val="D4A246"/>
                </a:solidFill>
                <a:latin typeface="JetBrains Mono"/>
              </a:defRPr>
            </a:pPr>
            <a:r>
              <a:t>TOKENOMICS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" y="960120"/>
            <a:ext cx="10058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Space Grotesk"/>
              </a:defRPr>
            </a:pPr>
            <a:r>
              <a:t>BOLT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21527" y="1508760"/>
            <a:ext cx="548640" cy="25400"/>
          </a:xfrm>
          <a:prstGeom prst="rect">
            <a:avLst/>
          </a:prstGeom>
          <a:solidFill>
            <a:srgbClr val="D4A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207" y="2011680"/>
            <a:ext cx="2286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400" b="1" i="0">
                <a:solidFill>
                  <a:srgbClr val="D4A246"/>
                </a:solidFill>
                <a:latin typeface="Space Grotesk"/>
              </a:defRPr>
            </a:pPr>
            <a:r>
              <a:t>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207" y="2606040"/>
            <a:ext cx="2286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9999B0"/>
                </a:solidFill>
                <a:latin typeface="JetBrains Mono"/>
              </a:defRPr>
            </a:pPr>
            <a:r>
              <a:t>TOTAL SUPPLY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6967" y="2011680"/>
            <a:ext cx="2286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400" b="1" i="0">
                <a:solidFill>
                  <a:srgbClr val="D4A246"/>
                </a:solidFill>
                <a:latin typeface="Space Grotesk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26967" y="2606040"/>
            <a:ext cx="2286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9999B0"/>
                </a:solidFill>
                <a:latin typeface="JetBrains Mono"/>
              </a:defRPr>
            </a:pPr>
            <a:r>
              <a:t>CHAINS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011680"/>
            <a:ext cx="2286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400" b="1" i="0">
                <a:solidFill>
                  <a:srgbClr val="D4A246"/>
                </a:solidFill>
                <a:latin typeface="Space Grotes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2606040"/>
            <a:ext cx="2286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9999B0"/>
                </a:solidFill>
                <a:latin typeface="JetBrains Mono"/>
              </a:defRPr>
            </a:pPr>
            <a:r>
              <a:t>STAKING TIERS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0487" y="2011680"/>
            <a:ext cx="2286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400" b="1" i="0">
                <a:solidFill>
                  <a:srgbClr val="D4A246"/>
                </a:solidFill>
                <a:latin typeface="Space Grotesk"/>
              </a:defRPr>
            </a:pPr>
            <a:r>
              <a:t>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0487" y="2606040"/>
            <a:ext cx="2286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9999B0"/>
                </a:solidFill>
                <a:latin typeface="JetBrains Mono"/>
              </a:defRPr>
            </a:pPr>
            <a:r>
              <a:t>PER-JOB BURN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3847" y="3474720"/>
            <a:ext cx="9144000" cy="68580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89607" y="3474720"/>
            <a:ext cx="1645920" cy="685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2000" b="1" i="0">
                <a:solidFill>
                  <a:srgbClr val="D4A246"/>
                </a:solidFill>
                <a:latin typeface="Space Grotesk"/>
              </a:defRPr>
            </a:pPr>
            <a:r>
              <a:t>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8407" y="3474720"/>
            <a:ext cx="1828800" cy="685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JetBrains Mono"/>
              </a:defRPr>
            </a:pPr>
            <a:r>
              <a:t>0 BOLT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2967" y="3474720"/>
            <a:ext cx="4572000" cy="685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1500" b="0" i="0">
                <a:solidFill>
                  <a:srgbClr val="9999B0"/>
                </a:solidFill>
                <a:latin typeface="Space Grotesk"/>
              </a:defRPr>
            </a:pPr>
            <a:r>
              <a:t>CHEAP tier jobs, standard matching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23847" y="4343400"/>
            <a:ext cx="9144000" cy="68580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89607" y="4343400"/>
            <a:ext cx="1645920" cy="685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2000" b="1" i="0">
                <a:solidFill>
                  <a:srgbClr val="D4A246"/>
                </a:solidFill>
                <a:latin typeface="Space Grotesk"/>
              </a:defRPr>
            </a:pPr>
            <a:r>
              <a:t>Verified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8407" y="4343400"/>
            <a:ext cx="1828800" cy="685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JetBrains Mono"/>
              </a:defRPr>
            </a:pPr>
            <a:r>
              <a:t>100 BOLT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2967" y="4343400"/>
            <a:ext cx="4572000" cy="685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1500" b="0" i="0">
                <a:solidFill>
                  <a:srgbClr val="9999B0"/>
                </a:solidFill>
                <a:latin typeface="Space Grotesk"/>
              </a:defRPr>
            </a:pPr>
            <a:r>
              <a:t>All tiers, +5 priority, 1.5x rep multiplier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23847" y="5212080"/>
            <a:ext cx="9144000" cy="685800"/>
          </a:xfrm>
          <a:prstGeom prst="rect"/>
          <a:solidFill>
            <a:srgbClr val="121218"/>
          </a:solidFill>
          <a:ln w="12700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89607" y="5212080"/>
            <a:ext cx="1645920" cy="685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2000" b="1" i="0">
                <a:solidFill>
                  <a:srgbClr val="D4A246"/>
                </a:solidFill>
                <a:latin typeface="Space Grotesk"/>
              </a:defRPr>
            </a:pPr>
            <a:r>
              <a:t>Sentinel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8407" y="5212080"/>
            <a:ext cx="1828800" cy="685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JetBrains Mono"/>
              </a:defRPr>
            </a:pPr>
            <a:r>
              <a:t>1,000 BOLT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2967" y="5212080"/>
            <a:ext cx="4572000" cy="685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1500" b="0" i="0">
                <a:solidFill>
                  <a:srgbClr val="9999B0"/>
                </a:solidFill>
                <a:latin typeface="Space Grotesk"/>
              </a:defRPr>
            </a:pPr>
            <a:r>
              <a:t>Priority matching, 2x rep, revenue share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fill="hold"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fill="hold"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fill="hold"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" fill="hold"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9" fill="hold"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1" fill="hold"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3" fill="hold"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5" fill="hold"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fill="hold"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fill="hold"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fill="hold"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9" fill="hold"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1" fill="hold"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3" fill="hold"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8" fill="hold"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0" fill="hold"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2" fill="hold"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spat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247" y="10972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737360"/>
            <a:ext cx="10362895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200" b="1" i="0">
                <a:solidFill>
                  <a:srgbClr val="D4A246"/>
                </a:solidFill>
                <a:latin typeface="Space Grotesk"/>
              </a:defRPr>
            </a:pPr>
            <a:r>
              <a:t>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200" b="0" i="0">
                <a:solidFill>
                  <a:srgbClr val="9999B0"/>
                </a:solidFill>
                <a:latin typeface="Space Grotesk"/>
              </a:defRPr>
            </a:pPr>
            <a:r>
              <a:t>Cheaper compute for AI. Passive income for everyone.</a:t>
            </a:r>
          </a:p>
        </p:txBody>
      </p:sp>
      <p:pic>
        <p:nvPicPr>
          <p:cNvPr id="5" name="Picture 4" descr="qr_web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27" y="320040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04007" y="4389120"/>
            <a:ext cx="16459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000" b="0" i="0">
                <a:solidFill>
                  <a:srgbClr val="9999B0"/>
                </a:solidFill>
                <a:latin typeface="JetBrains Mono"/>
              </a:defRPr>
            </a:pPr>
            <a:r>
              <a:t>dispatch.computer</a:t>
            </a:r>
          </a:p>
        </p:txBody>
      </p:sp>
      <p:pic>
        <p:nvPicPr>
          <p:cNvPr id="7" name="Picture 6" descr="qr_do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247" y="3200400"/>
            <a:ext cx="109728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49927" y="4389120"/>
            <a:ext cx="16459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000" b="0" i="0">
                <a:solidFill>
                  <a:srgbClr val="9999B0"/>
                </a:solidFill>
                <a:latin typeface="JetBrains Mono"/>
              </a:defRPr>
            </a:pPr>
            <a:r>
              <a:t>docs.dispatch.computer</a:t>
            </a:r>
          </a:p>
        </p:txBody>
      </p:sp>
      <p:pic>
        <p:nvPicPr>
          <p:cNvPr id="9" name="Picture 8" descr="qr_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167" y="3200400"/>
            <a:ext cx="1097280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5847" y="4389120"/>
            <a:ext cx="16459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000" b="0" i="0">
                <a:solidFill>
                  <a:srgbClr val="9999B0"/>
                </a:solidFill>
                <a:latin typeface="JetBrains Mono"/>
              </a:defRPr>
            </a:pPr>
            <a:r>
              <a:t>github.com/dispatchprotocol</a:t>
            </a:r>
          </a:p>
        </p:txBody>
      </p:sp>
      <p:pic>
        <p:nvPicPr>
          <p:cNvPr id="11" name="Picture 10" descr="qr_twit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6087" y="3200400"/>
            <a:ext cx="109728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41767" y="4389120"/>
            <a:ext cx="16459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000" b="0" i="0">
                <a:solidFill>
                  <a:srgbClr val="9999B0"/>
                </a:solidFill>
                <a:latin typeface="JetBrains Mono"/>
              </a:defRPr>
            </a:pPr>
            <a:r>
              <a:t>x.com/pranit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fill="hold"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fill="hold"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fill="hold"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" fill="hold"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9" fill="hold"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1" fill="hold"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3" fill="hold"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5" fill="hold"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