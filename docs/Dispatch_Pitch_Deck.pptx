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spat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87" y="164592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647" y="2560320"/>
            <a:ext cx="100584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600" b="1" i="0">
                <a:solidFill>
                  <a:srgbClr val="D4A246"/>
                </a:solidFill>
                <a:latin typeface="Space Grotesk"/>
              </a:defRPr>
            </a:pPr>
            <a:r>
              <a:t>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338328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0" i="0">
                <a:solidFill>
                  <a:srgbClr val="9999B0"/>
                </a:solidFill>
                <a:latin typeface="Space Grotesk"/>
              </a:defRPr>
            </a:pPr>
            <a:r>
              <a:t>Cheap AI compute for agents. Passive income for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4114800"/>
            <a:ext cx="10058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 i="0">
                <a:solidFill>
                  <a:srgbClr val="9999B0"/>
                </a:solidFill>
                <a:latin typeface="Space Grotesk"/>
              </a:defRPr>
            </a:pPr>
            <a:r>
              <a:t>Pranit Garg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4663440"/>
            <a:ext cx="100584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555568"/>
                </a:solidFill>
                <a:latin typeface="JetBrains Mono"/>
              </a:defRPr>
            </a:pPr>
            <a:r>
              <a:t>Colosseum Agent Hackathon, Feb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fill="hold"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128016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The Road to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5247" y="2560320"/>
            <a:ext cx="2194560" cy="292608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optimotiv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2971800"/>
            <a:ext cx="1463040" cy="338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407" y="3749040"/>
            <a:ext cx="19202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pace Grotesk"/>
              </a:defRPr>
            </a:pPr>
            <a:r>
              <a:t>Optimotive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2407" y="425196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Operating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407" y="46634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666678"/>
                </a:solidFill>
                <a:latin typeface="JetBrains Mono"/>
              </a:defRPr>
            </a:pPr>
            <a:r>
              <a:t>2019–2022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4127" y="2560320"/>
            <a:ext cx="2194560" cy="292608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ir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367" y="283464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01287" y="3749040"/>
            <a:ext cx="19202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pace Grotesk"/>
              </a:defRPr>
            </a:pPr>
            <a:r>
              <a:t>Irys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1287" y="425196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CMO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1287" y="46634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666678"/>
                </a:solidFill>
                <a:latin typeface="JetBrains Mono"/>
              </a:defRPr>
            </a:pPr>
            <a:r>
              <a:t>2022–2024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560320"/>
            <a:ext cx="2194560" cy="292608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ferma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47" y="2834640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70167" y="3749040"/>
            <a:ext cx="19202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pace Grotesk"/>
              </a:defRPr>
            </a:pPr>
            <a:r>
              <a:t>Fermah (a16z CSX '24)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25196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CMO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46634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666678"/>
                </a:solidFill>
                <a:latin typeface="JetBrains Mono"/>
              </a:defRPr>
            </a:pPr>
            <a:r>
              <a:t>2024–Present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1887" y="2560320"/>
            <a:ext cx="2194560" cy="292608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ispatc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127" y="2834640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39047" y="3749040"/>
            <a:ext cx="19202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pace Grotesk"/>
              </a:defRPr>
            </a:pPr>
            <a:r>
              <a:t>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047" y="425196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Founder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9047" y="46634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666678"/>
                </a:solidFill>
                <a:latin typeface="JetBrains Mono"/>
              </a:defRPr>
            </a:pPr>
            <a:r>
              <a:t>2025–Present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fill="hold"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5" fill="hold"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7" fill="hold"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9" fill="hold"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fill="hold"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fill="hold"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fill="hold"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fill="hold"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THE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407" y="1645920"/>
            <a:ext cx="4389120" cy="292608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98167" y="19202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D4A246"/>
                </a:solidFill>
                <a:latin typeface="JetBrains Mono"/>
              </a:defRPr>
            </a:pPr>
            <a:r>
              <a:t>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8167" y="237744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Space Grotesk"/>
              </a:defRPr>
            </a:pPr>
            <a:r>
              <a:t>Need cheap inference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167" y="3108960"/>
            <a:ext cx="3657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9999B0"/>
                </a:solidFill>
                <a:latin typeface="Space Grotesk"/>
              </a:defRPr>
            </a:pPr>
            <a:r>
              <a:t>Can't negotiate GPU leases.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999B0"/>
                </a:solidFill>
                <a:latin typeface="Space Grotesk"/>
              </a:defRPr>
            </a:pPr>
            <a:r>
              <a:t>Just make HTTP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70167" y="1645920"/>
            <a:ext cx="4389120" cy="292608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35927" y="19202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34D399"/>
                </a:solidFill>
                <a:latin typeface="JetBrains Mono"/>
              </a:defRPr>
            </a:pPr>
            <a:r>
              <a:t>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927" y="237744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Space Grotesk"/>
              </a:defRPr>
            </a:pPr>
            <a:r>
              <a:t>Have idle phones and laptops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5927" y="3108960"/>
            <a:ext cx="3657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9999B0"/>
                </a:solidFill>
                <a:latin typeface="Space Grotesk"/>
              </a:defRPr>
            </a:pPr>
            <a:r>
              <a:t>Want passive income.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999B0"/>
                </a:solidFill>
                <a:latin typeface="Space Grotesk"/>
              </a:defRPr>
            </a:pPr>
            <a:r>
              <a:t>Zero setup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47" y="2834640"/>
            <a:ext cx="4572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200" b="0" i="0">
                <a:solidFill>
                  <a:srgbClr val="D4A246"/>
                </a:solidFill>
                <a:latin typeface="Space Grotesk"/>
              </a:defRPr>
            </a:pPr>
            <a:r>
              <a:t>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647" y="502920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 i="0">
                <a:solidFill>
                  <a:srgbClr val="D4A246"/>
                </a:solidFill>
                <a:latin typeface="JetBrains Mono"/>
              </a:defRPr>
            </a:pPr>
            <a:r>
              <a:t>Cheap AI compute for agents. Passive income for workers.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fill="hold"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fill="hold"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128016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How AI agents access compute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9659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3807" y="2468880"/>
            <a:ext cx="3108960" cy="237744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8127" y="2697480"/>
            <a:ext cx="2560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8127" y="301752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Centralized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127" y="3429000"/>
            <a:ext cx="256032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Expensive, API-key gated, single point of failure. No verifiability.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2468880"/>
            <a:ext cx="3108960" cy="237744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687" y="2697480"/>
            <a:ext cx="2560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OPTION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687" y="301752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GPU 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5687" y="3429000"/>
            <a:ext cx="256032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Manual provisioning, hourly billing, over-allocated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8927" y="2468880"/>
            <a:ext cx="3108960" cy="237744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247" y="2697480"/>
            <a:ext cx="2560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OPTION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301752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Serverless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247" y="3429000"/>
            <a:ext cx="256032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Still centralized. Still opaque. Still no cryptographic proof.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647" y="5303520"/>
            <a:ext cx="10058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 i="0">
                <a:solidFill>
                  <a:srgbClr val="D4A246"/>
                </a:solidFill>
                <a:latin typeface="JetBrains Mono"/>
              </a:defRPr>
            </a:pPr>
            <a:r>
              <a:t>They just make HTTP requests.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5" fill="hold"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1463040"/>
            <a:ext cx="10058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Space Grotesk"/>
              </a:defRPr>
            </a:pPr>
            <a:r>
              <a:t>One HTTP request in, one verified result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2926080"/>
            <a:ext cx="2011680" cy="12801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2367" y="3108960"/>
            <a:ext cx="1737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367" y="347472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Sends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047" y="333756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D4A246"/>
                </a:solidFill>
                <a:latin typeface="Space Grotesk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8407" y="2926080"/>
            <a:ext cx="2011680" cy="12801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5567" y="3108960"/>
            <a:ext cx="1737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Coordinator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5567" y="347472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Routes + verifies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47" y="333756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D4A246"/>
                </a:solidFill>
                <a:latin typeface="Space Grotesk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1607" y="2926080"/>
            <a:ext cx="2011680" cy="12801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737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347472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Executes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0447" y="333756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D4A246"/>
                </a:solidFill>
                <a:latin typeface="Space Grotesk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04807" y="2926080"/>
            <a:ext cx="2011680" cy="12801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1967" y="3108960"/>
            <a:ext cx="1737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1967" y="347472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On-chain proof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fill="hold"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fill="hold"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1" fill="hold"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3" fill="hold"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128016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Three primitives just shipped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927" y="2377440"/>
            <a:ext cx="3291840" cy="31089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247" y="26060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COINBASE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247" y="292608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x402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3337560"/>
            <a:ext cx="274320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9999B0"/>
                </a:solidFill>
                <a:latin typeface="Space Grotesk"/>
              </a:defRPr>
            </a:pPr>
            <a:r>
              <a:t>HTTP-native micropayments. Agents pay per request with stablecoins, no accounts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2377440"/>
            <a:ext cx="3291840" cy="31089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6060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ETHEREUM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292608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ERC-8004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3337560"/>
            <a:ext cx="274320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9999B0"/>
                </a:solidFill>
                <a:latin typeface="Space Grotesk"/>
              </a:defRPr>
            </a:pPr>
            <a:r>
              <a:t>On-chain agent identity and reputation. Verifiable trust without human intermediaries.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8927" y="2377440"/>
            <a:ext cx="3291840" cy="310896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247" y="26060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SOLANA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247" y="292608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Seeker 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3337560"/>
            <a:ext cx="274320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9999B0"/>
                </a:solidFill>
                <a:latin typeface="Space Grotesk"/>
              </a:defRPr>
            </a:pPr>
            <a:r>
              <a:t>140,000+ idle mobile devices. Distributed compute, already in pockets.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fill="hold"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BUILT BY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16459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800" b="1" i="0">
                <a:solidFill>
                  <a:srgbClr val="FFFFFF"/>
                </a:solidFill>
                <a:latin typeface="Space Grotesk"/>
              </a:defRPr>
            </a:pPr>
            <a:r>
              <a:t>I can't write a single line of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527" y="3291840"/>
            <a:ext cx="2286000" cy="164592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9527" y="352044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16,000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527" y="416052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LINES OF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8407" y="3291840"/>
            <a:ext cx="2286000" cy="164592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352044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416052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PACKAGES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3291840"/>
            <a:ext cx="2286000" cy="164592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352044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416052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6167" y="3291840"/>
            <a:ext cx="2286000" cy="164592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6167" y="352044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6167" y="416052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AGENT-BUILT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fill="hold"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fill="hold"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fill="hold"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fill="hold"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fill="hold"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fill="hold"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fill="hold"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109728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What's live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527" y="2103120"/>
            <a:ext cx="4572000" cy="411480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5287" y="2377440"/>
            <a:ext cx="38404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D4A246"/>
                </a:solidFill>
                <a:latin typeface="JetBrains Mono"/>
              </a:defRPr>
            </a:pPr>
            <a:r>
              <a:t>STATUS</a:t>
            </a:r>
          </a:p>
        </p:txBody>
      </p:sp>
      <p:sp>
        <p:nvSpPr>
          <p:cNvPr id="6" name="Oval 5"/>
          <p:cNvSpPr/>
          <p:nvPr/>
        </p:nvSpPr>
        <p:spPr>
          <a:xfrm>
            <a:off x="1661007" y="292608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35327" y="2880360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E4E4EF"/>
                </a:solidFill>
                <a:latin typeface="Space Grotesk"/>
              </a:defRPr>
            </a:pPr>
            <a:r>
              <a:t>MVP working end-to-end</a:t>
            </a:r>
          </a:p>
        </p:txBody>
      </p:sp>
      <p:sp>
        <p:nvSpPr>
          <p:cNvPr id="8" name="Oval 7"/>
          <p:cNvSpPr/>
          <p:nvPr/>
        </p:nvSpPr>
        <p:spPr>
          <a:xfrm>
            <a:off x="1661007" y="352044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5327" y="3474720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E4E4EF"/>
                </a:solidFill>
                <a:latin typeface="Space Grotesk"/>
              </a:defRPr>
            </a:pPr>
            <a:r>
              <a:t>dApp Store approved</a:t>
            </a:r>
          </a:p>
        </p:txBody>
      </p:sp>
      <p:sp>
        <p:nvSpPr>
          <p:cNvPr id="10" name="Oval 9"/>
          <p:cNvSpPr/>
          <p:nvPr/>
        </p:nvSpPr>
        <p:spPr>
          <a:xfrm>
            <a:off x="1661007" y="411480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5327" y="4069080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E4E4EF"/>
                </a:solidFill>
                <a:latin typeface="Space Grotesk"/>
              </a:defRPr>
            </a:pPr>
            <a:r>
              <a:t>Dual-chain active (Solana + Monad)</a:t>
            </a:r>
          </a:p>
        </p:txBody>
      </p:sp>
      <p:sp>
        <p:nvSpPr>
          <p:cNvPr id="12" name="Oval 11"/>
          <p:cNvSpPr/>
          <p:nvPr/>
        </p:nvSpPr>
        <p:spPr>
          <a:xfrm>
            <a:off x="1661007" y="470916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5327" y="4663440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E4E4EF"/>
                </a:solidFill>
                <a:latin typeface="Space Grotesk"/>
              </a:defRPr>
            </a:pPr>
            <a:r>
              <a:t>Mobile + Desktop workers</a:t>
            </a:r>
          </a:p>
        </p:txBody>
      </p:sp>
      <p:sp>
        <p:nvSpPr>
          <p:cNvPr id="14" name="Oval 13"/>
          <p:cNvSpPr/>
          <p:nvPr/>
        </p:nvSpPr>
        <p:spPr>
          <a:xfrm>
            <a:off x="1661007" y="530352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5327" y="5257800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E4E4EF"/>
                </a:solidFill>
                <a:latin typeface="Space Grotesk"/>
              </a:defRPr>
            </a:pPr>
            <a:r>
              <a:t>Cryptographic receipts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0167" y="2103120"/>
            <a:ext cx="4572000" cy="4114800"/>
          </a:xfrm>
          <a:prstGeom prst="roundRect">
            <a:avLst/>
          </a:prstGeom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5927" y="2377440"/>
            <a:ext cx="38404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D4A246"/>
                </a:solidFill>
                <a:latin typeface="JetBrains Mono"/>
              </a:defRPr>
            </a:pPr>
            <a:r>
              <a:t>GO-TO-MARKET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288036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6007" y="2907792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E4E4EF"/>
                </a:solidFill>
                <a:latin typeface="Space Grotesk"/>
              </a:defRPr>
            </a:pPr>
            <a:r>
              <a:t>Seeker Fleet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5927" y="352044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6007" y="3547872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E4E4EF"/>
                </a:solidFill>
                <a:latin typeface="Space Grotesk"/>
              </a:defRPr>
            </a:pPr>
            <a:r>
              <a:t>Desktop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27" y="416052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187952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E4E4EF"/>
                </a:solidFill>
                <a:latin typeface="Space Grotesk"/>
              </a:defRPr>
            </a:pPr>
            <a:r>
              <a:t>Enterprise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5927" y="480060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6007" y="4828032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E4E4EF"/>
                </a:solidFill>
                <a:latin typeface="Space Grotesk"/>
              </a:defRPr>
            </a:pPr>
            <a:r>
              <a:t>Cross-chain Settlement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fill="hold"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fill="hold"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5" fill="hold"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fill="hold"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fill="hold"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fill="hold"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fill="hold"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fill="hold"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fill="hold"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fill="hold"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fill="hold"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fill="hold"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fill="hold"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2" fill="hold"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91440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847" y="2011680"/>
            <a:ext cx="91440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400"/>
              </a:spcAft>
              <a:defRPr sz="3800" b="1">
                <a:solidFill>
                  <a:srgbClr val="FFFFFF"/>
                </a:solidFill>
                <a:latin typeface="Space Grotesk"/>
              </a:defRPr>
            </a:pPr>
            <a:r>
              <a:t>Cheaper compute for AI.</a:t>
            </a:r>
          </a:p>
          <a:p>
            <a:pPr algn="ctr">
              <a:spcAft>
                <a:spcPts val="400"/>
              </a:spcAft>
              <a:defRPr sz="3800" b="1">
                <a:solidFill>
                  <a:srgbClr val="FFFFFF"/>
                </a:solidFill>
                <a:latin typeface="Space Grotesk"/>
              </a:defRPr>
            </a:pPr>
            <a:r>
              <a:t>Passive income for everyone.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3840480"/>
            <a:ext cx="91440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 i="0">
                <a:solidFill>
                  <a:srgbClr val="9999B0"/>
                </a:solidFill>
                <a:latin typeface="JetBrains Mono"/>
              </a:defRPr>
            </a:pPr>
            <a:r>
              <a:t>Every idle phone and laptop becomes a compute node. Agents get inference at a fraction of centralized costs. Device owners earn BOLT on hardware that's already sitting idle.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spat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7" y="10972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647" y="1737360"/>
            <a:ext cx="100584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D4A246"/>
                </a:solidFill>
                <a:latin typeface="Space Grotesk"/>
              </a:defRPr>
            </a:pPr>
            <a:r>
              <a:t>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237744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0" i="0">
                <a:solidFill>
                  <a:srgbClr val="9999B0"/>
                </a:solidFill>
                <a:latin typeface="Space Grotesk"/>
              </a:defRPr>
            </a:pPr>
            <a:r>
              <a:t>Cheap AI compute for agents. Passive income for workers.</a:t>
            </a:r>
          </a:p>
        </p:txBody>
      </p:sp>
      <p:pic>
        <p:nvPicPr>
          <p:cNvPr id="5" name="Picture 4" descr="qr_web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7" y="320040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0400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dispatch.computer</a:t>
            </a:r>
          </a:p>
        </p:txBody>
      </p:sp>
      <p:pic>
        <p:nvPicPr>
          <p:cNvPr id="7" name="Picture 6" descr="qr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47" y="320040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4992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docs.dispatch.computer</a:t>
            </a:r>
          </a:p>
        </p:txBody>
      </p:sp>
      <p:pic>
        <p:nvPicPr>
          <p:cNvPr id="9" name="Picture 8" descr="qr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67" y="3200400"/>
            <a:ext cx="109728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584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github.com/dispatchprotocol</a:t>
            </a:r>
          </a:p>
        </p:txBody>
      </p:sp>
      <p:pic>
        <p:nvPicPr>
          <p:cNvPr id="11" name="Picture 10" descr="qr_twi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6087" y="320040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176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x.com/pranit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fill="hold"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fill="hold"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5" fill="hold"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